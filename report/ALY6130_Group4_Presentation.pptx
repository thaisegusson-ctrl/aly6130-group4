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0421"/>
  </p:normalViewPr>
  <p:slideViewPr>
    <p:cSldViewPr snapToGrid="0" snapToObjects="1">
      <p:cViewPr varScale="1">
        <p:scale>
          <a:sx n="143" d="100"/>
          <a:sy n="143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79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the team. This is a 15-minute presentation covering a full ERM assessment of Netflix's proposed EdTech market entry between 2026 and 2028.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overview of the presentation structure. We will move quickly through each section in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Netflix is a strong company with a real opportunity in EdTech, but the market just became more competitive with the Coursera-Udemy merger. This is why a rigorous ERM assessment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10 risks. Highlight that R6 (ROI), R16 (Competitor Consolidation) and R28 (AI Governance) were selected because they are causally linked — they all point to the same root problem: Netflix entering a market without the infrastructure 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 all three scored the maximum. But more importantly, the timing issue with R16 means the competitive response must start before the platform is even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3-point estimate follows the method taught in Module 4. The Monte Carlo ran 10,000 scenarios. The Random Forest used KRI indicators as features and achieved 84% accuracy on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R16 is the biggest risk at $187M and 91% probability. Combined exposure is $394.5M base case. These are not hypothetical numbers — they reflect real EdTech market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R6: staged gates prevent overcommitment. R16: differentiation plus partnerships — we cannot compete on price against a 290M learner platform. R28: vendor transfer shifts technical risk externally.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thresholds are not arbitrary. The 4% subscriber growth floor comes from HolonIQ data on EdTech platform first-year adoption. The 80% dataset completeness threshold is from Stanford HAI. The 15% capex variance ceiling aligns with PMI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it together: the risks are real but the opportunities are also real. Netflix has the brand, the algorithm, and the content capabilities. The question is whether it can build the EdTech-specific infrastructure fast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emerging risks beyond the 2026-2028 window. Worth flagging now so Netflix builds compliance and monitoring into its roadmap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time for questions. Be ready to discuss: why these 3 risks specifically, how the Monte Carlo numbers were derived, and what the recommended next steps are for Netflix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2321858" cy="5143500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7749" y="775847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ENTRY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2026–2028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363185" y="1097280"/>
            <a:ext cx="71304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Management Assessment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474257" y="1965960"/>
            <a:ext cx="502920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12001" y="2185953"/>
            <a:ext cx="60596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Adewole F. Adelana  |  Juliana Gyamfua  |  Thaise Gusson S. Domingos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ALY6130 – Risk Management for Analytics  |  June 26,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20469" y="296319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 |  Professor Abeba N. Turi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734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72535" y="929637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9695" y="1156549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4055" y="1002789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4055" y="1405125"/>
            <a:ext cx="31885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the EdTech opportunity, and why it is harder than it looks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2535" y="2164077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9695" y="2390989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04055" y="2237229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04054" y="2639565"/>
            <a:ext cx="33019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core risks surfaced, 3 selected for full assessment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2535" y="3398517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9695" y="3625429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04055" y="3471669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Assessment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04055" y="3874005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Analytics and Industry Fusion Analytics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37947" y="929637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75107" y="1148077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69467" y="1002789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Assessment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69467" y="1405125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and ML prediction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37947" y="2164077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75107" y="2382517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69467" y="2237229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Response &amp; KRIs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69467" y="2639565"/>
            <a:ext cx="3301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 and monitoring framework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37947" y="3398517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5107" y="3616957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69467" y="3471669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Risks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69467" y="3874005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what to watch next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8740C4-735D-05E6-7A5C-7DAD4FE9FBF7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9331" y="2726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Subscribers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141732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9164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141732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1752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(2024)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560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growth has slowed in mature markets. Netflix needs new revenue streams.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960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EdTech Opportunity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0" y="14173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1508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$98.58B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education market by 2031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377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26.57% CAGR  |  Mordor Intelligence, 2026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4F4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5346" y="3232571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3810" y="3657600"/>
            <a:ext cx="81652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requires credentials, FERPA/GDPR compliance, and institutional trust built over years. In May 2026, Coursera acquired Udemy, creating a platform with </a:t>
            </a: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290M learners and 18,000 enterprise clients at a $2.5B valuation.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Netflix would be entering a market that just got a lot more consolidated.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2EEE89-ACFA-D82F-0A94-99C9D244E328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9330" y="26416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Risks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598" y="914400"/>
            <a:ext cx="88222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brainstorming across 5 dimensions surfaced 10 core negative risks and 5 opportunities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4F4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Failure to Achieve EdTech ROI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Academic Credibility &amp; Brand Acceptance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Educational Content Quality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502920" y="3410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Platform Availability &amp; Scalability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502920" y="4050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AI Governance, Bias &amp; Explainability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4F4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4800600" y="1490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Privacy &amp; Regulatory Compliance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20574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4F4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4800600" y="2130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Competitor Market Consolidation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26974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4800600" y="2770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Instructor &amp; Talent Acquisition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33375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4800600" y="3410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Accreditation &amp; Credential Recognition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39776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4800600" y="4050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Vendor Dependency &amp; Platform Lock-In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risks selected for full assessment based on causal relationships and Critical score (81) on 9x9 matrix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1B7490-88BA-CFBB-9779-E9F61B5111B5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6265" y="2810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Risk Assessment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11665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applied: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59" y="1325880"/>
            <a:ext cx="4265487" cy="1627298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6488" y="1290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Analytics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7292" y="1683512"/>
            <a:ext cx="4265485" cy="1075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 per risk: base case, downside, optimistic. For R16: Coursera-Udemy captures 35-40% corporate upskilling in 18 months (base). For R6: $125M controlled build vs $250M overrun. For R28: entertainment data vs educational AI gap.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4023360" cy="1627298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2448" y="1307253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Fusion Analytics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7851" y="17173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from HolonIQ 2024 EdTech report, Gartner platform cost analysis, and Stanford HAI 2024 AI Index used to calibrate estimates against real market data.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5531" y="317161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risks scored 81 — Critical on the 9x9 matrix</a:t>
            </a: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80365"/>
              </p:ext>
            </p:extLst>
          </p:nvPr>
        </p:nvGraphicFramePr>
        <p:xfrm>
          <a:off x="560494" y="3574630"/>
          <a:ext cx="7955280" cy="1389888"/>
        </p:xfrm>
        <a:graphic>
          <a:graphicData uri="http://schemas.openxmlformats.org/drawingml/2006/table">
            <a:tbl>
              <a:tblPr/>
              <a:tblGrid>
                <a:gridCol w="844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8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Investment Overrun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8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8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Displacement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8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8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Training Data Gap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8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BA3E15B-2DDE-CAA6-E853-07A32D7FB663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7798" y="27262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0132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techniques applied: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2622" y="1325879"/>
            <a:ext cx="2763521" cy="2224705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9783" y="141732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2703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I&amp;W Method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783" y="2016762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&amp; Warning: assigns Green/Amber/Red thresholds to each risk so the team has specific signals to watch.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64838" y="1334347"/>
            <a:ext cx="2763521" cy="2224704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52801" y="1425787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55721" y="1471507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4266" y="2084496"/>
            <a:ext cx="260433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iterations in Python/NumPy. 3-point estimates (low/base/high) modeled uncertainty in financial outcomes.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48585" y="1325879"/>
            <a:ext cx="2812627" cy="2224703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85746" y="141732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88666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85745" y="2152232"/>
            <a:ext cx="2622967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 indicators used as inputs. Synthetic data from HolonIQ/Class Central. 84% cross-validated accuracy, validated against Monte Carlo.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3197" y="371517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3-Point Estimate Ranges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98024" y="4050454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389464" y="411446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9464" y="4434501"/>
            <a:ext cx="2468880" cy="436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$50M   Base: $125M   High: $250M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24104" y="4050454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2" name="Text 20"/>
          <p:cNvSpPr/>
          <p:nvPr/>
        </p:nvSpPr>
        <p:spPr>
          <a:xfrm>
            <a:off x="3315544" y="4114462"/>
            <a:ext cx="62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15544" y="4434501"/>
            <a:ext cx="2418078" cy="436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$80M   Base: $175M   High: $380M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50184" y="4050454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41624" y="4114462"/>
            <a:ext cx="62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41624" y="4434501"/>
            <a:ext cx="2367282" cy="436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$30M   Base: $90M   High: $210M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013CEB-9DD3-9740-E83A-A3DBCB1B2310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6265" y="27262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594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3585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Investment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P(Occur.)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011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Loss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3317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$112.5M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Loss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$168M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91840" y="9144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4F4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005840"/>
            <a:ext cx="677334" cy="457200"/>
          </a:xfrm>
          <a:prstGeom prst="rect">
            <a:avLst/>
          </a:prstGeom>
          <a:solidFill>
            <a:srgbClr val="E850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59663" y="1554480"/>
            <a:ext cx="2709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Displacement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900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P(Occur.)   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011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Loss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23317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2900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Loss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2651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$265M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290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HIGHEST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17920" y="9144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1005840"/>
            <a:ext cx="6807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85746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Data Gap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508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P(Occur.)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0" y="2011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Loss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0" y="23317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$95M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5508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Loss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98080" y="2651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$142.5M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550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65760" y="388620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041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Base-Case Expected Loss: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4880" y="3977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$394.5M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7548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675120" y="3977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$575M+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675120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P90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014A62-DCE9-6856-8E43-9B8C9A3B1585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9330" y="28109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Response Strategy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11667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risks rated Critical — acceptance is off the table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502920" cy="365760"/>
          </a:xfrm>
          <a:prstGeom prst="rect">
            <a:avLst/>
          </a:prstGeom>
          <a:solidFill>
            <a:srgbClr val="2E4A7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1493" y="1436285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Investment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" y="1874520"/>
            <a:ext cx="2423160" cy="292608"/>
          </a:xfrm>
          <a:prstGeom prst="roundRect">
            <a:avLst>
              <a:gd name="adj" fmla="val 15625"/>
            </a:avLst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475488" y="18836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6650" y="2360845"/>
            <a:ext cx="262635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capital deployment tied to milestones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6650" y="2999236"/>
            <a:ext cx="262635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approval required at each gate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6650" y="3561421"/>
            <a:ext cx="262635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cost review if variance &gt;15%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6650" y="4149008"/>
            <a:ext cx="262635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+ EdTech Program Director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01567" y="1417320"/>
            <a:ext cx="637033" cy="365760"/>
          </a:xfrm>
          <a:prstGeom prst="rect">
            <a:avLst/>
          </a:prstGeom>
          <a:solidFill>
            <a:srgbClr val="E850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45376" y="1419351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Displacement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1874520"/>
            <a:ext cx="2423160" cy="292608"/>
          </a:xfrm>
          <a:prstGeom prst="roundRect">
            <a:avLst>
              <a:gd name="adj" fmla="val 15625"/>
            </a:avLst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3401568" y="18836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+ SHARE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2730" y="2360845"/>
            <a:ext cx="27008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via AI-personalized learning paths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42730" y="3041564"/>
            <a:ext cx="262636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instructor content deals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42730" y="3595286"/>
            <a:ext cx="262636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university credential partnerships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42730" y="4174404"/>
            <a:ext cx="262636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Chief Strategy Officer / CEO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3258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27647" y="1417320"/>
            <a:ext cx="640419" cy="365760"/>
          </a:xfrm>
          <a:prstGeom prst="rect">
            <a:avLst/>
          </a:prstGeom>
          <a:solidFill>
            <a:srgbClr val="2E4A7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14447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Data Gap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7648" y="1874520"/>
            <a:ext cx="2423160" cy="292608"/>
          </a:xfrm>
          <a:prstGeom prst="roundRect">
            <a:avLst>
              <a:gd name="adj" fmla="val 15625"/>
            </a:avLst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7" name="Text 25"/>
          <p:cNvSpPr/>
          <p:nvPr/>
        </p:nvSpPr>
        <p:spPr>
          <a:xfrm>
            <a:off x="6327648" y="18836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+ TRANSFER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68812" y="2360845"/>
            <a:ext cx="26094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augmentation + licensed datasets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68812" y="2999234"/>
            <a:ext cx="26094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AI vendors on performance SLAs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68812" y="3646085"/>
            <a:ext cx="26094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bears cost if accuracy benchmarks missed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68812" y="4284473"/>
            <a:ext cx="26094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CTO + EdTech Program Director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912FC0-1660-20D9-ED57-7A64DC6673A1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2399" y="28109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Indicators &amp; Trigger Points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4730" y="914400"/>
            <a:ext cx="857672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grounded in HolonIQ, Stanford HAI, and PMI benchmarks — not set arbitrarily</a:t>
            </a: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44858"/>
              </p:ext>
            </p:extLst>
          </p:nvPr>
        </p:nvGraphicFramePr>
        <p:xfrm>
          <a:off x="431803" y="1444418"/>
          <a:ext cx="8285471" cy="3048000"/>
        </p:xfrm>
        <a:graphic>
          <a:graphicData uri="http://schemas.openxmlformats.org/drawingml/2006/table">
            <a:tbl>
              <a:tblPr/>
              <a:tblGrid>
                <a:gridCol w="807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9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— Trigger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capex vs budget variance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change requests per quarter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8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subscriber MoM growth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&lt;4% by M18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8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partnerships signed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 by M12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by M12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 by M12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dataset completeness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60-80%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&lt;60%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recommendation accuracy vs benchmark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55-70%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47228" y="4639733"/>
            <a:ext cx="8659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KRI: Course completion rate — below 10% by month 12 triggers content design and UX review  (industry avg: 15%, Class Central 2024)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B8396-1E4B-4881-41E0-1FF9488F0EA8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265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" y="81279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expansion is high-risk — but manageable with the right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29329"/>
            <a:ext cx="457200" cy="457200"/>
          </a:xfrm>
          <a:prstGeom prst="rect">
            <a:avLst/>
          </a:prstGeom>
          <a:solidFill>
            <a:srgbClr val="E850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515873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R6, R16 and R28 share one root problem: Netflix is entering a market that requires infrastructure, credentials, and data it does not yet have. They cannot be managed in isolation.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726609"/>
            <a:ext cx="457200" cy="457200"/>
          </a:xfrm>
          <a:prstGeom prst="rect">
            <a:avLst/>
          </a:prstGeom>
          <a:solidFill>
            <a:srgbClr val="E850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570818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base-case exposure is $394.5M, rising to $575M+ at P90. R16 alone carries 91% probability. These are not theoretical, they reflect real EdTech market history.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823889"/>
            <a:ext cx="457200" cy="457200"/>
          </a:xfrm>
          <a:prstGeom prst="rect">
            <a:avLst/>
          </a:prstGeom>
          <a:solidFill>
            <a:srgbClr val="E850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710433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forward: phased capital gates, differentiation over price competition, and credential partnerships that start before the platform launches. The I&amp;W and KRI framework provides early warning.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3D54F5-AE21-4A39-C565-E18D6703E42D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0864" y="28109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Risks to Monitor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6425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Netflix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1673352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53906" y="1374987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(2026)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1003" y="1895179"/>
            <a:ext cx="39115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Netflix's personalization engine would be classified as high-risk AI in education (requiring ongoing audits and bias testing not currently in the cost estimates).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4023360" cy="1623903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53906" y="3166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Competitors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003" y="3644394"/>
            <a:ext cx="39115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built from scratch on LLMs could commoditize educational content faster than Netflix or the incumbents can respond.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5612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EdTech Industry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79"/>
            <a:ext cx="4023360" cy="1673353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743026" y="1366521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Inflation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70123" y="1927053"/>
            <a:ext cx="39115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micro-credentials multiply, employers are starting to question their value. If that skepticism grows, the business model most EdTech platforms depend on becomes less stable.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4023360" cy="1623903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743026" y="3141135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Fragmentation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70123" y="3652860"/>
            <a:ext cx="39115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privacy laws are tightening and diverging across jurisdictions. For a platform in 190 countries, compliance costs grow non-linearly.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10A94-D248-CC98-88B7-82AF855B35CC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94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ALY6130 – Risk Management for Analytics  |  Northeastern University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DABE8-ED6B-8A60-50B2-742D4B4599EC}"/>
              </a:ext>
            </a:extLst>
          </p:cNvPr>
          <p:cNvSpPr txBox="1"/>
          <p:nvPr/>
        </p:nvSpPr>
        <p:spPr>
          <a:xfrm>
            <a:off x="8778240" y="4826000"/>
            <a:ext cx="44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1582</Words>
  <Application>Microsoft Macintosh PowerPoint</Application>
  <PresentationFormat>On-screen Show (16:9)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EdTech ERM Assessment</dc:title>
  <dc:subject>PptxGenJS Presentation</dc:subject>
  <dc:creator>PptxGenJS</dc:creator>
  <cp:lastModifiedBy>Thaise Gusson Silva Domingos</cp:lastModifiedBy>
  <cp:revision>21</cp:revision>
  <cp:lastPrinted>2026-06-25T08:49:55Z</cp:lastPrinted>
  <dcterms:created xsi:type="dcterms:W3CDTF">2026-06-24T06:38:50Z</dcterms:created>
  <dcterms:modified xsi:type="dcterms:W3CDTF">2026-06-25T08:52:12Z</dcterms:modified>
</cp:coreProperties>
</file>