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1"/>
    <p:restoredTop sz="90421"/>
  </p:normalViewPr>
  <p:slideViewPr>
    <p:cSldViewPr snapToGrid="0" snapToObjects="1">
      <p:cViewPr varScale="1">
        <p:scale>
          <a:sx n="143" d="100"/>
          <a:sy n="143" d="100"/>
        </p:scale>
        <p:origin x="69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05795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and introduce the team. This is a 15-minute presentation covering a full ERM assessment of Netflix's proposed EdTech market entry between 2026 and 2028.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overview of the presentation structure. We will move quickly through each section in 15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Netflix is a strong company with a real opportunity in EdTech, but the market just became more competitive with the Coursera-Udemy merger. This is why a rigorous ERM assessment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10 risks. Highlight that R6 (ROI), R16 (Competitor Consolidation) and R28 (AI Governance) were selected because they are causally linked — they all point to the same root problem: Netflix entering a market without the infrastructure it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takeaway: all three scored the maximum. But more importantly, the timing issue with R16 means the competitive response must start before the platform is even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the 3-point estimate follows the method taught in Module 4. The Monte Carlo ran 10,000 scenarios. The Random Forest used KRI indicators as features and achieved 84% accuracy on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R16 is the biggest risk at $187M and 91% probability. Combined exposure is $394.5M base case. These are not hypothetical numbers — they reflect real EdTech market benchmarks.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R6: staged gates prevent overcommitment. R16: differentiation plus partnerships — we cannot compete on price against a 290M learner platform. R28: vendor transfer shifts technical risk externally.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thresholds are not arbitrary. The 4% subscriber growth floor comes from HolonIQ data on EdTech platform first-year adoption. The 80% dataset completeness threshold is from Stanford HAI. The 15% capex variance ceiling aligns with PMI standards.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it together: the risks are real but the opportunities are also real. Netflix has the brand, the algorithm, and the content capabilities. The question is whether it can build the EdTech-specific infrastructure fast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emerging risks beyond the 2026-2028 window. Worth flagging now so Netflix builds compliance and monitoring into its roadmap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time for questions. Be ready to discuss: why these 3 risks specifically, how the Monte Carlo numbers were derived, and what the recommended next steps are for Netflix leadership.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" y="0"/>
            <a:ext cx="2321858" cy="5143500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7749" y="775847"/>
            <a:ext cx="24688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</a:t>
            </a:r>
            <a:endParaRPr lang="en-US" sz="2700" dirty="0"/>
          </a:p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ENTRY</a:t>
            </a:r>
            <a:endParaRPr lang="en-US" sz="2700" dirty="0"/>
          </a:p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2026–2028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2363185" y="1097280"/>
            <a:ext cx="71304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Risk Management Assessment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2474257" y="1965960"/>
            <a:ext cx="5029200" cy="18288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412001" y="2185953"/>
            <a:ext cx="605964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Adewole F. Adelana  |  Juliana Gyamfua  |  Thaise Gusson S. Domingos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ALY6130 – Risk Management for Analytics  |  June 26, 2026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2420469" y="2963193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Northeastern University  |  Professor Abeba N. Turi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4734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72535" y="92963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9695" y="1156549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055" y="100278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104055" y="1405125"/>
            <a:ext cx="31885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Netflix, the EdTech opportunity, and why it is harder than it looks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72535" y="216407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9695" y="2390989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04055" y="223722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Identification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104054" y="2639565"/>
            <a:ext cx="3301999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core risks surfaced, 3 selected for full assessment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72535" y="339851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09695" y="3625429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04055" y="347166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Assessment</a:t>
            </a: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104055" y="3874005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Analytics and Industry Fusion Analytics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37947" y="92963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75107" y="1148077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469467" y="100278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Assessment</a:t>
            </a: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5469467" y="1405125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simulation and ML prediction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737947" y="216407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75107" y="2382517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469467" y="223722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Response &amp; KRIs</a:t>
            </a: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5469467" y="2639565"/>
            <a:ext cx="330199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 strategies and monitoring framework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37947" y="3398517"/>
            <a:ext cx="40233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75107" y="3616957"/>
            <a:ext cx="502920" cy="50292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469467" y="3471669"/>
            <a:ext cx="3108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Risks</a:t>
            </a: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69467" y="3874005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 and what to watch next</a:t>
            </a:r>
            <a:endParaRPr lang="en-US" sz="1600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4F84FB4-5811-6B89-D0C7-A1E437A58357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18AAAA6-27F8-F69F-B2B4-BA420EFF59C0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418740C4-735D-05E6-7A5C-7DAD4FE9FBF7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69331" y="27263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 Today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300M+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65760" y="19385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Subscribers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691640" y="141732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691640" y="15087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190+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691640" y="19385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017520" y="1417320"/>
            <a:ext cx="1188720" cy="1005840"/>
          </a:xfrm>
          <a:prstGeom prst="roundRect">
            <a:avLst>
              <a:gd name="adj" fmla="val 727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017520" y="1508760"/>
            <a:ext cx="1188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$39B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017520" y="1938528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(2024)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560320"/>
            <a:ext cx="3840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Subscriber growth has slowed in mature markets. Netflix needs new revenue streams.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960120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EdTech Opportunity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72000" y="1417320"/>
            <a:ext cx="4206240" cy="14630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572000" y="150876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$98.58B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4572000" y="205740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digital education market by 2031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572000" y="237744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26.57% CAGR  |  Mordor Intelligence, 2026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65760" y="3200400"/>
            <a:ext cx="8412480" cy="1554480"/>
          </a:xfrm>
          <a:prstGeom prst="roundRect">
            <a:avLst>
              <a:gd name="adj" fmla="val 4706"/>
            </a:avLst>
          </a:prstGeom>
          <a:solidFill>
            <a:srgbClr val="FFF4F4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45346" y="3232571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3810" y="3657600"/>
            <a:ext cx="81652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EdTech requires credentials, FERPA/GDPR compliance, and institutional trust built over years. In May 2026, Coursera acquired Udemy, creating a platform with </a:t>
            </a: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290M learners and 18,000 enterprise clients at a $2.5B valuation.</a:t>
            </a:r>
            <a:r>
              <a:rPr lang="en-US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Netflix would be entering a market that just got a lot more consolidated.</a:t>
            </a:r>
            <a:endParaRPr lang="en-US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2EEE89-ACFA-D82F-0A94-99C9D244E328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3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A7EA6E3-609F-CCD7-F584-23CD246B9648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AF9FCA1-7778-1B6B-1E5B-B1FAE5355755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69330" y="264161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 of Risks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28598" y="914400"/>
            <a:ext cx="882226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brainstorming across 5 dimensions surfaced 10 core negative risks and 5 opportunities</a:t>
            </a: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FF4F4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6" name="Text 4"/>
          <p:cNvSpPr/>
          <p:nvPr/>
        </p:nvSpPr>
        <p:spPr>
          <a:xfrm>
            <a:off x="502920" y="14904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Failure to Achieve EdTech ROI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8" name="Text 6"/>
          <p:cNvSpPr/>
          <p:nvPr/>
        </p:nvSpPr>
        <p:spPr>
          <a:xfrm>
            <a:off x="502920" y="2130552"/>
            <a:ext cx="3886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Academic Credibility &amp; Brand Acceptance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6974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0" name="Text 8"/>
          <p:cNvSpPr/>
          <p:nvPr/>
        </p:nvSpPr>
        <p:spPr>
          <a:xfrm>
            <a:off x="502920" y="27706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Educational Content Quality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3375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2" name="Text 10"/>
          <p:cNvSpPr/>
          <p:nvPr/>
        </p:nvSpPr>
        <p:spPr>
          <a:xfrm>
            <a:off x="502920" y="34107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Platform Availability &amp; Scalability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365760" y="39776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3200"/>
          </a:p>
        </p:txBody>
      </p:sp>
      <p:sp>
        <p:nvSpPr>
          <p:cNvPr id="14" name="Text 12"/>
          <p:cNvSpPr/>
          <p:nvPr/>
        </p:nvSpPr>
        <p:spPr>
          <a:xfrm>
            <a:off x="502920" y="405079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AI Governance, Bias &amp; Explainability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663440" y="141732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FF4F4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6" name="Text 14"/>
          <p:cNvSpPr/>
          <p:nvPr/>
        </p:nvSpPr>
        <p:spPr>
          <a:xfrm>
            <a:off x="4800600" y="149047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Data Privacy &amp; Regulatory Compliance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663440" y="205740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FF4F4"/>
          </a:solidFill>
          <a:ln w="6350">
            <a:solidFill>
              <a:srgbClr val="FECACA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18" name="Text 16"/>
          <p:cNvSpPr/>
          <p:nvPr/>
        </p:nvSpPr>
        <p:spPr>
          <a:xfrm>
            <a:off x="4800600" y="21305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Competitor Market Consolidation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63440" y="269748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0" name="Text 18"/>
          <p:cNvSpPr/>
          <p:nvPr/>
        </p:nvSpPr>
        <p:spPr>
          <a:xfrm>
            <a:off x="4800600" y="277063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Instructor &amp; Talent Acquisition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663440" y="333756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2" name="Text 20"/>
          <p:cNvSpPr/>
          <p:nvPr/>
        </p:nvSpPr>
        <p:spPr>
          <a:xfrm>
            <a:off x="4800600" y="341071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Accreditation &amp; Credential Recognition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63440" y="3977640"/>
            <a:ext cx="4023360" cy="502920"/>
          </a:xfrm>
          <a:prstGeom prst="roundRect">
            <a:avLst>
              <a:gd name="adj" fmla="val 10909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 sz="2800"/>
          </a:p>
        </p:txBody>
      </p:sp>
      <p:sp>
        <p:nvSpPr>
          <p:cNvPr id="24" name="Text 22"/>
          <p:cNvSpPr/>
          <p:nvPr/>
        </p:nvSpPr>
        <p:spPr>
          <a:xfrm>
            <a:off x="4800600" y="405079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Vendor Dependency &amp; Platform Lock-In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65760" y="466344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risks selected for full assessment based on causal relationships and Critical score (81) on 9x9 matrix</a:t>
            </a:r>
            <a:endParaRPr lang="en-US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1B7490-88BA-CFBB-9779-E9F61B5111B5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4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D398EE44-C9AC-2E09-DD67-770964C2B96B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FFB155D-CF4B-13C4-3304-4299F4B3E701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6265" y="281096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Risk Assessment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1665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methods applied: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59" y="1325880"/>
            <a:ext cx="4265487" cy="1627298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06488" y="12903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Analytics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57292" y="1683512"/>
            <a:ext cx="4265485" cy="10752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scenarios per risk: base case, downside, optimistic. For R16: Coursera-Udemy captures 35-40% corporate upskilling in 18 months (base). For R6: $125M controlled build vs $250M overrun. For R28: entertainment data vs educational AI gap.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846320" y="1325880"/>
            <a:ext cx="4023360" cy="1627298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2448" y="1307253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Fusion Analytics</a:t>
            </a: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837851" y="1717380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from HolonIQ 2024 EdTech report, Gartner platform cost analysis, and Stanford HAI 2024 AI Index used to calibrate estimates against real market data.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45531" y="317161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risks scored 81 — Critical on the 9x9 matrix</a:t>
            </a:r>
            <a:endParaRPr lang="en-US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8280365"/>
              </p:ext>
            </p:extLst>
          </p:nvPr>
        </p:nvGraphicFramePr>
        <p:xfrm>
          <a:off x="560494" y="3574630"/>
          <a:ext cx="7955280" cy="1389888"/>
        </p:xfrm>
        <a:graphic>
          <a:graphicData uri="http://schemas.openxmlformats.org/drawingml/2006/table">
            <a:tbl>
              <a:tblPr/>
              <a:tblGrid>
                <a:gridCol w="8449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24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9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ID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Name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Probability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Investment Overrun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 Displacement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Training Data Gap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DBA3E15B-2DDE-CAA6-E853-07A32D7FB663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5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64CC58B-5113-5499-1715-41C4D4D0EA2C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68583D4-7C9D-37F8-2B7D-1A9523C4B23A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7798" y="272627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Risk Assessment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20132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techniques applied: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72622" y="1325879"/>
            <a:ext cx="2763521" cy="2224705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9783" y="1417320"/>
            <a:ext cx="4572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2703" y="14630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I&amp;W Method</a:t>
            </a: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9783" y="2016762"/>
            <a:ext cx="24231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 &amp; Warning: assigns Green/Amber/Red thresholds to each risk so the team has specific signals to watch.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164838" y="1334347"/>
            <a:ext cx="2763521" cy="2224704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352801" y="1425787"/>
            <a:ext cx="4572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855721" y="1471507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234266" y="2084496"/>
            <a:ext cx="2604339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iterations in Python/NumPy. 3-point estimates (low/base/high) modeled uncertainty in financial outcomes.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048585" y="1325879"/>
            <a:ext cx="2812627" cy="2224703"/>
          </a:xfrm>
          <a:prstGeom prst="roundRect">
            <a:avLst>
              <a:gd name="adj" fmla="val 3636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185746" y="1417320"/>
            <a:ext cx="4572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6688666" y="146304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Prediction</a:t>
            </a: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(Random Forest)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185745" y="2152232"/>
            <a:ext cx="262296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 indicators used as inputs. Synthetic data from HolonIQ/Class Central. 84% cross-validated accuracy, validated against Monte Carlo.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03197" y="3715177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3-Point Estimate Ranges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98024" y="4050454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19" name="Text 17"/>
          <p:cNvSpPr/>
          <p:nvPr/>
        </p:nvSpPr>
        <p:spPr>
          <a:xfrm>
            <a:off x="389464" y="4114462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389464" y="4434501"/>
            <a:ext cx="2468880" cy="436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$50M   Base: $125M   High: $250M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224104" y="4050454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3200"/>
          </a:p>
        </p:txBody>
      </p:sp>
      <p:sp>
        <p:nvSpPr>
          <p:cNvPr id="22" name="Text 20"/>
          <p:cNvSpPr/>
          <p:nvPr/>
        </p:nvSpPr>
        <p:spPr>
          <a:xfrm>
            <a:off x="3315544" y="4114462"/>
            <a:ext cx="62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15544" y="4434501"/>
            <a:ext cx="2418078" cy="436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$80M   Base: $175M   High: $380M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150184" y="4050454"/>
            <a:ext cx="26517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41624" y="4114462"/>
            <a:ext cx="624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R28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6241624" y="4434501"/>
            <a:ext cx="2367282" cy="4363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Low: $30M   Base: $90M   High: $210M</a:t>
            </a:r>
            <a:endParaRPr lang="en-US" sz="16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013CEB-9DD3-9740-E83A-A3DBCB1B2310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6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E53D5029-0D26-3045-C873-B88C4922F17A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F519E77-4ED3-0F6E-8F25-6749347238E2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86265" y="272627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Quantitative Results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65760" y="91440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59436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333585" y="1554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Investment</a:t>
            </a: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292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P(Occur.)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45920" y="20116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Loss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233172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$112.5M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02920" y="2651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Loss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$168M</a:t>
            </a: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3291840" y="91440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FF4F4"/>
          </a:solidFill>
          <a:ln w="12700">
            <a:solidFill>
              <a:srgbClr val="FECACA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29000" y="1005840"/>
            <a:ext cx="677334" cy="457200"/>
          </a:xfrm>
          <a:prstGeom prst="rect">
            <a:avLst/>
          </a:prstGeom>
          <a:solidFill>
            <a:srgbClr val="E850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259663" y="1554480"/>
            <a:ext cx="27093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Displacement</a:t>
            </a: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42900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P(Occur.)   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72000" y="20116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91%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3429000" y="2331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Loss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0" y="233172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$187M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3429000" y="2651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Loss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72000" y="2651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$265M</a:t>
            </a: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3429000" y="3291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5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HIGHEST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217920" y="91440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55080" y="1005840"/>
            <a:ext cx="68072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R28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185746" y="15544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Data Gap</a:t>
            </a: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355080" y="20116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P(Occur.)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498080" y="20116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55080" y="23317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Loss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498080" y="233172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$95M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355080" y="265176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 Loss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498080" y="265176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$142.5M</a:t>
            </a: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6355080" y="32918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2000" dirty="0"/>
          </a:p>
        </p:txBody>
      </p:sp>
      <p:sp>
        <p:nvSpPr>
          <p:cNvPr id="34" name="Shape 32"/>
          <p:cNvSpPr/>
          <p:nvPr/>
        </p:nvSpPr>
        <p:spPr>
          <a:xfrm>
            <a:off x="365760" y="3886200"/>
            <a:ext cx="841248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640080" y="40416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Base-Case Expected Loss:</a:t>
            </a: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754880" y="39776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$394.5M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475488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675120" y="397764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$575M+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6675120" y="4480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P90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014A62-DCE9-6856-8E43-9B8C9A3B1585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7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90E2BB6-1D29-3015-F78F-DC6F21B809C3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247CA63-3185-5FEA-7E25-0DBF5A6D3DC8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69330" y="281095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Response Strategy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211667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risks rated Critical — acceptance is off the table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75488" y="1417320"/>
            <a:ext cx="502920" cy="365760"/>
          </a:xfrm>
          <a:prstGeom prst="rect">
            <a:avLst/>
          </a:prstGeom>
          <a:solidFill>
            <a:srgbClr val="2E4A7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941493" y="1436285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Investment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75488" y="1874520"/>
            <a:ext cx="2423160" cy="292608"/>
          </a:xfrm>
          <a:prstGeom prst="roundRect">
            <a:avLst>
              <a:gd name="adj" fmla="val 15625"/>
            </a:avLst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9" name="Text 7"/>
          <p:cNvSpPr/>
          <p:nvPr/>
        </p:nvSpPr>
        <p:spPr>
          <a:xfrm>
            <a:off x="475488" y="188366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16650" y="2360845"/>
            <a:ext cx="26263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Phased capital deployment tied to milestones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16650" y="2999236"/>
            <a:ext cx="26263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approval required at each gate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16650" y="3561421"/>
            <a:ext cx="26263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cost review if variance &gt;15%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16650" y="4149008"/>
            <a:ext cx="2626359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CFO + EdTech Program Director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291840" y="132588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401567" y="1417320"/>
            <a:ext cx="637033" cy="365760"/>
          </a:xfrm>
          <a:prstGeom prst="rect">
            <a:avLst/>
          </a:prstGeom>
          <a:solidFill>
            <a:srgbClr val="E850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R16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045376" y="1419351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Displacement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401568" y="1874520"/>
            <a:ext cx="2423160" cy="292608"/>
          </a:xfrm>
          <a:prstGeom prst="roundRect">
            <a:avLst>
              <a:gd name="adj" fmla="val 15625"/>
            </a:avLst>
          </a:prstGeom>
          <a:solidFill>
            <a:srgbClr val="E8504A"/>
          </a:solidFill>
          <a:ln w="12700">
            <a:solidFill>
              <a:srgbClr val="E8504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18" name="Text 16"/>
          <p:cNvSpPr/>
          <p:nvPr/>
        </p:nvSpPr>
        <p:spPr>
          <a:xfrm>
            <a:off x="3401568" y="188366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 + SHARE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242730" y="2360845"/>
            <a:ext cx="270087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via AI-personalized learning paths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42730" y="3041564"/>
            <a:ext cx="26263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Exclusive instructor content deals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3242730" y="3595286"/>
            <a:ext cx="26263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Fast-track university credential partnerships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3242730" y="4174404"/>
            <a:ext cx="2626363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Chief Strategy Officer / CEO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217920" y="1325880"/>
            <a:ext cx="2651760" cy="352044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327647" y="1417320"/>
            <a:ext cx="640419" cy="365760"/>
          </a:xfrm>
          <a:prstGeom prst="rect">
            <a:avLst/>
          </a:prstGeom>
          <a:solidFill>
            <a:srgbClr val="2E4A7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R28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903720" y="1444752"/>
            <a:ext cx="1965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Training Data Gap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27648" y="1874520"/>
            <a:ext cx="2423160" cy="292608"/>
          </a:xfrm>
          <a:prstGeom prst="roundRect">
            <a:avLst>
              <a:gd name="adj" fmla="val 15625"/>
            </a:avLst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 sz="3600"/>
          </a:p>
        </p:txBody>
      </p:sp>
      <p:sp>
        <p:nvSpPr>
          <p:cNvPr id="27" name="Text 25"/>
          <p:cNvSpPr/>
          <p:nvPr/>
        </p:nvSpPr>
        <p:spPr>
          <a:xfrm>
            <a:off x="6327648" y="1883664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MITIGATE + TRANSFER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68812" y="2360845"/>
            <a:ext cx="26094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augmentation + licensed datasets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168812" y="2999234"/>
            <a:ext cx="26094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AI vendors on performance SLAs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6168812" y="3646085"/>
            <a:ext cx="26094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bears cost if accuracy benchmarks missed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168812" y="4284473"/>
            <a:ext cx="260942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CTO + EdTech Program Director</a:t>
            </a:r>
            <a:endParaRPr lang="en-US" sz="16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912FC0-1660-20D9-ED57-7A64DC6673A1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8</a:t>
            </a: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7E87784-256D-02E6-1DC3-CEC4F715F74F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B293F1D-4CF8-1EE6-A10B-85A7EC485E92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52399" y="281095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 Indicators &amp; Trigger Points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94730" y="914400"/>
            <a:ext cx="8576727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Thresholds grounded in HolonIQ, Stanford HAI, and PMI benchmarks — not set arbitrarily</a:t>
            </a:r>
            <a:endParaRPr lang="en-US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33744858"/>
              </p:ext>
            </p:extLst>
          </p:nvPr>
        </p:nvGraphicFramePr>
        <p:xfrm>
          <a:off x="431803" y="1444418"/>
          <a:ext cx="8285471" cy="3048000"/>
        </p:xfrm>
        <a:graphic>
          <a:graphicData uri="http://schemas.openxmlformats.org/drawingml/2006/table">
            <a:tbl>
              <a:tblPr/>
              <a:tblGrid>
                <a:gridCol w="80702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819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36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363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9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C5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9E0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 — Trigger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capex vs budget variance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&gt;15%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change requests per quarter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 subscriber MoM growth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4-8%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&lt;4% by M18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E85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R16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partnerships signed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 by M12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 by M12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 by M12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Educational dataset completeness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&gt;80%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60-80%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&lt;60%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2E4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R28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recommendation accuracy vs benchmark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16A3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&gt;70%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55-70%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&lt;55%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47228" y="4639733"/>
            <a:ext cx="865969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KRI: Course completion rate — below 10% by month 12 triggers content design and UX review  (industry avg: 15%, Class Central 2024)</a:t>
            </a:r>
            <a:endParaRPr 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8B8396-1E4B-4881-41E0-1FF9488F0EA8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9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5948E46-5A12-E6CB-96EB-1A32F9170182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FC92823-B449-6488-3F2A-883C7DCC4FF8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6265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77800" y="812799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expansion is high-risk — but manageable with the right approach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629329"/>
            <a:ext cx="457200" cy="457200"/>
          </a:xfrm>
          <a:prstGeom prst="rect">
            <a:avLst/>
          </a:prstGeom>
          <a:solidFill>
            <a:srgbClr val="E850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1515873"/>
            <a:ext cx="7543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R6, R16 and R28 share one root problem: Netflix is entering a market that requires infrastructure, credentials, and data it does not yet have. They cannot be managed in isolation.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51460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02920" y="2726609"/>
            <a:ext cx="457200" cy="457200"/>
          </a:xfrm>
          <a:prstGeom prst="rect">
            <a:avLst/>
          </a:prstGeom>
          <a:solidFill>
            <a:srgbClr val="E850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097280" y="2570818"/>
            <a:ext cx="7543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base-case exposure is $394.5M, rising to $575M+ at P90. R16 alone carries 91% probability. These are not theoretical, they reflect real EdTech market history.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36118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2920" y="3823889"/>
            <a:ext cx="457200" cy="457200"/>
          </a:xfrm>
          <a:prstGeom prst="rect">
            <a:avLst/>
          </a:prstGeom>
          <a:solidFill>
            <a:srgbClr val="E8504A"/>
          </a:solidFill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97280" y="3710433"/>
            <a:ext cx="7543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forward: phased capital gates, differentiation over price competition, and credential partnerships that start before the platform launches. The I&amp;W and KRI framework provides early warning.</a:t>
            </a: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3D54F5-AE21-4A39-C565-E18D6703E42D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10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A46ACD3-78FC-153F-0C9A-2D446FCCD262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DEB8BCE-2EA1-49D2-D156-2FE140CBE5D2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60864" y="281095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Risks to Monitor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96425" y="914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Netflix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4023360" cy="1673352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353906" y="1374987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(2026)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81003" y="1895179"/>
            <a:ext cx="39115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Netflix's personalization engine would be classified as high-risk AI in education (requiring ongoing audits and bias testing not currently in the cost estimates).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4023360" cy="1623903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353906" y="316653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Competitors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81003" y="3644394"/>
            <a:ext cx="39115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entrants built from scratch on LLMs could commoditize educational content faster than Netflix or the incumbents can respond.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95612" y="91440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EdTech Industry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754880" y="1325879"/>
            <a:ext cx="4023360" cy="1673353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3" name="Text 11"/>
          <p:cNvSpPr/>
          <p:nvPr/>
        </p:nvSpPr>
        <p:spPr>
          <a:xfrm>
            <a:off x="4743026" y="1366521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 Inflation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70123" y="1927053"/>
            <a:ext cx="39115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micro-credentials multiply, employers are starting to question their value. If that skepticism grows, the business model most EdTech platforms depend on becomes less stable.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754880" y="3108960"/>
            <a:ext cx="4023360" cy="1623903"/>
          </a:xfrm>
          <a:prstGeom prst="roundRect">
            <a:avLst>
              <a:gd name="adj" fmla="val 5333"/>
            </a:avLst>
          </a:prstGeom>
          <a:solidFill>
            <a:srgbClr val="F4F6FB"/>
          </a:solidFill>
          <a:ln w="6350">
            <a:solidFill>
              <a:srgbClr val="E2E8F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 sz="2400"/>
          </a:p>
        </p:txBody>
      </p:sp>
      <p:sp>
        <p:nvSpPr>
          <p:cNvPr id="16" name="Text 14"/>
          <p:cNvSpPr/>
          <p:nvPr/>
        </p:nvSpPr>
        <p:spPr>
          <a:xfrm>
            <a:off x="4743026" y="3141135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Fragmentation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770123" y="3652860"/>
            <a:ext cx="3911597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just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data privacy laws are tightening and diverging across jurisdictions. For a platform in 190 countries, compliance costs grow non-linearly.</a:t>
            </a:r>
            <a:endParaRPr lang="en-US" sz="1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A10A94-D248-CC98-88B7-82AF855B35CC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tx2">
                    <a:lumMod val="75000"/>
                  </a:schemeClr>
                </a:solidFill>
              </a:rPr>
              <a:t>11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87A0B4F-BEE4-9945-106B-B6FF1141EED4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DF1C05-A513-7DD8-8023-2AC577B2AABD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09728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19659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560320"/>
            <a:ext cx="2743200" cy="27432"/>
          </a:xfrm>
          <a:prstGeom prst="rect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794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ALY6130 – Risk Management for Analytics  |  Northeastern University</a:t>
            </a:r>
            <a:endParaRPr 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3DABE8-ED6B-8A60-50B2-742D4B4599EC}"/>
              </a:ext>
            </a:extLst>
          </p:cNvPr>
          <p:cNvSpPr txBox="1"/>
          <p:nvPr/>
        </p:nvSpPr>
        <p:spPr>
          <a:xfrm>
            <a:off x="8778240" y="4826000"/>
            <a:ext cx="4402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chemeClr val="bg1"/>
                </a:solidFill>
              </a:rPr>
              <a:t>12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D59A6BE-E82D-EC90-686D-0C325F9AE56E}"/>
              </a:ext>
            </a:extLst>
          </p:cNvPr>
          <p:cNvCxnSpPr/>
          <p:nvPr/>
        </p:nvCxnSpPr>
        <p:spPr>
          <a:xfrm>
            <a:off x="16935" y="729823"/>
            <a:ext cx="91440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20BEDE3-7D71-3392-CB52-297B075C101C}"/>
              </a:ext>
            </a:extLst>
          </p:cNvPr>
          <p:cNvCxnSpPr/>
          <p:nvPr/>
        </p:nvCxnSpPr>
        <p:spPr>
          <a:xfrm>
            <a:off x="270933" y="0"/>
            <a:ext cx="0" cy="5143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1472</TotalTime>
  <Words>1582</Words>
  <Application>Microsoft Macintosh PowerPoint</Application>
  <PresentationFormat>On-screen Show (16:9)</PresentationFormat>
  <Paragraphs>256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Netflix EdTech ERM Assessment</dc:title>
  <dc:subject>PptxGenJS Presentation</dc:subject>
  <dc:creator>PptxGenJS</dc:creator>
  <cp:lastModifiedBy>Thaise Gusson Silva Domingos</cp:lastModifiedBy>
  <cp:revision>20</cp:revision>
  <dcterms:created xsi:type="dcterms:W3CDTF">2026-06-24T06:38:50Z</dcterms:created>
  <dcterms:modified xsi:type="dcterms:W3CDTF">2026-06-25T07:20:18Z</dcterms:modified>
</cp:coreProperties>
</file>